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9"/>
  </p:notesMasterIdLst>
  <p:sldIdLst>
    <p:sldId id="256" r:id="rId2"/>
    <p:sldId id="262" r:id="rId3"/>
    <p:sldId id="263" r:id="rId4"/>
    <p:sldId id="285" r:id="rId5"/>
    <p:sldId id="286" r:id="rId6"/>
    <p:sldId id="318" r:id="rId7"/>
    <p:sldId id="287" r:id="rId8"/>
    <p:sldId id="288" r:id="rId9"/>
    <p:sldId id="289" r:id="rId10"/>
    <p:sldId id="317" r:id="rId11"/>
    <p:sldId id="290" r:id="rId12"/>
    <p:sldId id="291" r:id="rId13"/>
    <p:sldId id="292" r:id="rId14"/>
    <p:sldId id="293" r:id="rId15"/>
    <p:sldId id="294" r:id="rId16"/>
    <p:sldId id="260" r:id="rId17"/>
    <p:sldId id="271" r:id="rId18"/>
    <p:sldId id="267" r:id="rId19"/>
    <p:sldId id="264" r:id="rId20"/>
    <p:sldId id="272" r:id="rId21"/>
    <p:sldId id="273" r:id="rId22"/>
    <p:sldId id="265" r:id="rId23"/>
    <p:sldId id="266" r:id="rId24"/>
    <p:sldId id="274" r:id="rId25"/>
    <p:sldId id="268" r:id="rId26"/>
    <p:sldId id="269" r:id="rId27"/>
    <p:sldId id="275" r:id="rId28"/>
    <p:sldId id="270" r:id="rId29"/>
    <p:sldId id="278" r:id="rId30"/>
    <p:sldId id="276" r:id="rId31"/>
    <p:sldId id="277" r:id="rId32"/>
    <p:sldId id="279" r:id="rId33"/>
    <p:sldId id="280" r:id="rId34"/>
    <p:sldId id="281" r:id="rId35"/>
    <p:sldId id="282" r:id="rId36"/>
    <p:sldId id="283" r:id="rId37"/>
    <p:sldId id="28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ưu Mạnh" initials="LM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85ABF-F501-4F54-976C-6FAD57A9EA2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CBB5D-E399-44B3-9944-5766F864A20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23/04/2020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1" y="3059517"/>
            <a:ext cx="8689976" cy="815454"/>
          </a:xfrm>
        </p:spPr>
        <p:txBody>
          <a:bodyPr/>
          <a:lstStyle/>
          <a:p>
            <a:r>
              <a:rPr lang="en-US" cap="none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xo 2"/>
                <a:cs typeface="Arial" panose="020B0604020202020204" pitchFamily="34" charset="0"/>
              </a:rPr>
              <a:t>LISTVIEW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798483"/>
            <a:ext cx="8689976" cy="567485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CƠ BẢN &amp; NÂNG CAO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647C2-69A5-4AF1-9202-78C29486F4C7}"/>
              </a:ext>
            </a:extLst>
          </p:cNvPr>
          <p:cNvSpPr txBox="1"/>
          <p:nvPr/>
        </p:nvSpPr>
        <p:spPr>
          <a:xfrm>
            <a:off x="4411084" y="5368083"/>
            <a:ext cx="3369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Exo 2"/>
              </a:rPr>
              <a:t>Nhóm 1</a:t>
            </a:r>
          </a:p>
          <a:p>
            <a:pPr algn="ctr"/>
            <a:r>
              <a:rPr lang="en-US">
                <a:latin typeface="Exo 2"/>
              </a:rPr>
              <a:t>Nguyễn Văn Hải &amp; L</a:t>
            </a:r>
            <a:r>
              <a:rPr lang="vi-VN">
                <a:latin typeface="Exo 2"/>
              </a:rPr>
              <a:t>ư</a:t>
            </a:r>
            <a:r>
              <a:rPr lang="en-US">
                <a:latin typeface="Exo 2"/>
              </a:rPr>
              <a:t>u Đức Mạnh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DC0214-9779-460E-8F32-79D46DFF4973}"/>
              </a:ext>
            </a:extLst>
          </p:cNvPr>
          <p:cNvSpPr txBox="1"/>
          <p:nvPr/>
        </p:nvSpPr>
        <p:spPr>
          <a:xfrm>
            <a:off x="4276559" y="843586"/>
            <a:ext cx="3638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ỜNG ĐẠI HỌC QUY NH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627D8E-30D0-4B72-AE99-E1E047DFC8A7}"/>
              </a:ext>
            </a:extLst>
          </p:cNvPr>
          <p:cNvSpPr txBox="1"/>
          <p:nvPr/>
        </p:nvSpPr>
        <p:spPr>
          <a:xfrm>
            <a:off x="2479784" y="2604928"/>
            <a:ext cx="7232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HỌC PHẦN: LẬP TRÌNH TRÊN THIẾT BỊ DI ĐỘNG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9B9DC28-C7C7-4160-BC2A-CC47D8990A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Giới thiệu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4451" cy="4344535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b="1" cap="none">
                <a:latin typeface="Arial" panose="020B0604020202020204" pitchFamily="34" charset="0"/>
                <a:cs typeface="Arial" panose="020B0604020202020204" pitchFamily="34" charset="0"/>
              </a:rPr>
              <a:t>istview là gì?</a:t>
            </a:r>
          </a:p>
          <a:p>
            <a:pPr algn="just"/>
            <a:r>
              <a:rPr lang="en-US" b="1" cap="none">
                <a:latin typeface="Arial" panose="020B0604020202020204" pitchFamily="34" charset="0"/>
                <a:cs typeface="Arial" panose="020B0604020202020204" pitchFamily="34" charset="0"/>
              </a:rPr>
              <a:t>Listview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 là một </a:t>
            </a:r>
            <a:r>
              <a:rPr lang="en-US" b="1" cap="none">
                <a:latin typeface="Arial" panose="020B0604020202020204" pitchFamily="34" charset="0"/>
                <a:cs typeface="Arial" panose="020B0604020202020204" pitchFamily="34" charset="0"/>
              </a:rPr>
              <a:t>view group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, hiển thị các thành phần (elements) theo dạng danh sách, có thể cuộn đ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ợc theo chiều thẳng đứng.</a:t>
            </a:r>
          </a:p>
          <a:p>
            <a:pPr algn="just"/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b="1" cap="none">
                <a:latin typeface="Arial" panose="020B0604020202020204" pitchFamily="34" charset="0"/>
                <a:cs typeface="Arial" panose="020B0604020202020204" pitchFamily="34" charset="0"/>
              </a:rPr>
              <a:t> Listview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ợc tạo từ một danh sách các </a:t>
            </a:r>
            <a:r>
              <a:rPr lang="en-US" b="1" cap="none">
                <a:latin typeface="Arial" panose="020B0604020202020204" pitchFamily="34" charset="0"/>
                <a:cs typeface="Arial" panose="020B0604020202020204" pitchFamily="34" charset="0"/>
              </a:rPr>
              <a:t>ListItem.</a:t>
            </a:r>
          </a:p>
          <a:p>
            <a:pPr algn="just"/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Một </a:t>
            </a:r>
            <a:r>
              <a:rPr lang="en-US" b="1" cap="none">
                <a:latin typeface="Arial" panose="020B0604020202020204" pitchFamily="34" charset="0"/>
                <a:cs typeface="Arial" panose="020B0604020202020204" pitchFamily="34" charset="0"/>
              </a:rPr>
              <a:t>ListItem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 là một mảnh giao diện, nó có thể đ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ợc làm bởi một số </a:t>
            </a:r>
            <a:r>
              <a:rPr lang="en-US" b="1" cap="none">
                <a:latin typeface="Arial" panose="020B0604020202020204" pitchFamily="34" charset="0"/>
                <a:cs typeface="Arial" panose="020B0604020202020204" pitchFamily="34" charset="0"/>
              </a:rPr>
              <a:t>View.</a:t>
            </a:r>
          </a:p>
          <a:p>
            <a:pPr algn="just"/>
            <a:r>
              <a:rPr lang="en-US" b="1" cap="none">
                <a:latin typeface="Arial" panose="020B0604020202020204" pitchFamily="34" charset="0"/>
                <a:cs typeface="Arial" panose="020B0604020202020204" pitchFamily="34" charset="0"/>
              </a:rPr>
              <a:t>Listview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là một view quan trọng, nó đ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ợc sử dụng rộng rãi trong các ứng dụng android.</a:t>
            </a:r>
          </a:p>
          <a:p>
            <a:pPr algn="just"/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Ví dụ: danh bạ điện thoại, danh sách tin nhắn …</a:t>
            </a:r>
          </a:p>
          <a:p>
            <a:pPr algn="just"/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Ngoài ra, Android cũng cung cấp một view t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tự khác là </a:t>
            </a:r>
            <a:r>
              <a:rPr lang="en-US" b="1" cap="none">
                <a:latin typeface="Arial" panose="020B0604020202020204" pitchFamily="34" charset="0"/>
                <a:cs typeface="Arial" panose="020B0604020202020204" pitchFamily="34" charset="0"/>
              </a:rPr>
              <a:t>ExpandableListview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D934256-88E4-4468-B6FF-EF45D205A7EC}"/>
              </a:ext>
            </a:extLst>
          </p:cNvPr>
          <p:cNvSpPr txBox="1">
            <a:spLocks/>
          </p:cNvSpPr>
          <p:nvPr/>
        </p:nvSpPr>
        <p:spPr>
          <a:xfrm>
            <a:off x="9448800" y="65420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Giới thiệu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67" y="2231755"/>
            <a:ext cx="2809733" cy="41088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133" y="1547794"/>
            <a:ext cx="2809733" cy="479281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600" y="1345532"/>
            <a:ext cx="2809733" cy="4995080"/>
          </a:xfrm>
          <a:prstGeom prst="rect">
            <a:avLst/>
          </a:prstGeom>
        </p:spPr>
      </p:pic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BAD49B11-CF02-41B5-8048-4618468A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5182226" cy="4344535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PHẦN 1 : LISTVIEW 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BẢN</a:t>
            </a:r>
          </a:p>
          <a:p>
            <a:pPr marL="457200" indent="6350"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 dirty="0"/>
              <a:t>Arraydapter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6350">
              <a:buFont typeface="+mj-lt"/>
              <a:buAutoNum type="arabicPeriod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800" cap="none">
                <a:latin typeface="Arial" panose="020B0604020202020204" pitchFamily="34" charset="0"/>
                <a:cs typeface="Arial" panose="020B0604020202020204" pitchFamily="34" charset="0"/>
              </a:rPr>
              <a:t>í dụ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Listview </a:t>
            </a:r>
            <a:r>
              <a:rPr lang="en-US" sz="1800" cap="none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arraydapter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6350">
              <a:buFont typeface="+mj-lt"/>
              <a:buAutoNum type="arabicPeriod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800" cap="none">
                <a:latin typeface="Arial" panose="020B0604020202020204" pitchFamily="34" charset="0"/>
                <a:cs typeface="Arial" panose="020B0604020202020204" pitchFamily="34" charset="0"/>
              </a:rPr>
              <a:t>ác</a:t>
            </a:r>
            <a:r>
              <a:rPr lang="vi-VN" sz="1800">
                <a:latin typeface="Arial" panose="020B0604020202020204" pitchFamily="34" charset="0"/>
                <a:cs typeface="Arial" panose="020B0604020202020204" pitchFamily="34" charset="0"/>
              </a:rPr>
              <a:t> layout </a:t>
            </a:r>
            <a:r>
              <a:rPr lang="vi-VN" sz="1800" cap="none">
                <a:latin typeface="Arial" panose="020B0604020202020204" pitchFamily="34" charset="0"/>
                <a:cs typeface="Arial" panose="020B0604020202020204" pitchFamily="34" charset="0"/>
              </a:rPr>
              <a:t>làm </a:t>
            </a:r>
            <a:r>
              <a:rPr lang="vi-VN" sz="1800" cap="none" dirty="0">
                <a:latin typeface="Arial" panose="020B0604020202020204" pitchFamily="34" charset="0"/>
                <a:cs typeface="Arial" panose="020B0604020202020204" pitchFamily="34" charset="0"/>
              </a:rPr>
              <a:t>việc </a:t>
            </a:r>
            <a:r>
              <a:rPr lang="vi-VN" sz="1800" cap="none">
                <a:latin typeface="Arial" panose="020B0604020202020204" pitchFamily="34" charset="0"/>
                <a:cs typeface="Arial" panose="020B0604020202020204" pitchFamily="34" charset="0"/>
              </a:rPr>
              <a:t>với </a:t>
            </a:r>
            <a:r>
              <a:rPr lang="en-US" sz="1800" cap="none">
                <a:latin typeface="Arial" panose="020B0604020202020204" pitchFamily="34" charset="0"/>
                <a:cs typeface="Arial" panose="020B0604020202020204" pitchFamily="34" charset="0"/>
              </a:rPr>
              <a:t>ARRAYDAPTER</a:t>
            </a:r>
            <a:endParaRPr lang="en-US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6096000" y="1446663"/>
            <a:ext cx="5182226" cy="4344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PHẦN 2 : LISTVIEW nâng cao</a:t>
            </a:r>
          </a:p>
          <a:p>
            <a:pPr marL="457200" indent="6350">
              <a:buFont typeface="+mj-lt"/>
              <a:buAutoNum type="arabicPeriod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layout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Listview</a:t>
            </a:r>
          </a:p>
          <a:p>
            <a:pPr marL="457200" indent="6350">
              <a:buFont typeface="+mj-lt"/>
              <a:buAutoNum type="arabicPeriod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layout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List Item</a:t>
            </a:r>
          </a:p>
          <a:p>
            <a:pPr marL="457200" indent="6350">
              <a:buFont typeface="+mj-lt"/>
              <a:buAutoNum type="arabicPeriod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class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  <a:p>
            <a:pPr marL="457200" indent="6350">
              <a:buFont typeface="+mj-lt"/>
              <a:buAutoNum type="arabicPeriod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class Adapter</a:t>
            </a:r>
          </a:p>
          <a:p>
            <a:pPr marL="457200" indent="0">
              <a:buNone/>
            </a:pP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	4.1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cap="none"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getView(…)</a:t>
            </a:r>
          </a:p>
          <a:p>
            <a:pPr marL="457200" indent="0">
              <a:buNone/>
            </a:pP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	4.2 ViewHolder</a:t>
            </a:r>
          </a:p>
          <a:p>
            <a:pPr marL="457200" indent="0">
              <a:buNone/>
            </a:pP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5. Cài đặt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ainActivity.java</a:t>
            </a:r>
          </a:p>
          <a:p>
            <a:pPr marL="457200" indent="6350">
              <a:buFont typeface="+mj-lt"/>
              <a:buAutoNum type="arabicPeriod"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8369C894-323F-4976-930A-AD6E8A1DE165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1: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listview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8CFCF6AE-DA76-40E7-968F-36A504A27BFC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474308"/>
            <a:ext cx="10364451" cy="828146"/>
          </a:xfrm>
        </p:spPr>
        <p:txBody>
          <a:bodyPr>
            <a:normAutofit/>
          </a:bodyPr>
          <a:lstStyle/>
          <a:p>
            <a:r>
              <a:rPr lang="en-US" sz="320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vi-VN" sz="3200">
                <a:latin typeface="Arial" panose="020B0604020202020204" pitchFamily="34" charset="0"/>
                <a:cs typeface="Arial" panose="020B0604020202020204" pitchFamily="34" charset="0"/>
              </a:rPr>
              <a:t>Arraydapter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94833" y="1416677"/>
            <a:ext cx="4855962" cy="4967015"/>
          </a:xfrm>
        </p:spPr>
        <p:txBody>
          <a:bodyPr>
            <a:normAutofit/>
          </a:bodyPr>
          <a:lstStyle/>
          <a:p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Arraydapter </a:t>
            </a: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sử dụng để hiển 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thị các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Listview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ới </a:t>
            </a: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ListItem </a:t>
            </a: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đơn giản,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ListItem </a:t>
            </a: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có thể làm từ duy nhất một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Textview, checkedtextview, editText,...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rong </a:t>
            </a: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trường hợp bạn muốn có một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Listview </a:t>
            </a: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listitem </a:t>
            </a: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phức tạp hơn, bạn có thể tự tạo ra một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adapter </a:t>
            </a: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tùy biến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583" y="1442435"/>
            <a:ext cx="5820344" cy="47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23D2161E-0578-473B-9684-D28BB3B1CE7A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584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>
          <a:xfrm>
            <a:off x="914399" y="1170392"/>
            <a:ext cx="10363826" cy="2258608"/>
          </a:xfrm>
        </p:spPr>
        <p:txBody>
          <a:bodyPr>
            <a:normAutofit/>
          </a:bodyPr>
          <a:lstStyle/>
          <a:p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ạo mới project với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simplelistview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vi-V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dirty="0"/>
              <a:t> 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989" y="1712888"/>
            <a:ext cx="6400800" cy="4971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BFDE7F1-4FEB-4BD8-A4F6-1F3FDDE31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í dụ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Listview 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 arraydapte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br>
              <a:rPr lang="vi-VN"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EF5799F-9099-497E-BD35-7D869B39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070" y="1228298"/>
            <a:ext cx="7402195" cy="5067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C38DE-8514-451B-B264-25FB744BDC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8575" y="1575523"/>
            <a:ext cx="2020495" cy="498937"/>
          </a:xfrm>
        </p:spPr>
        <p:txBody>
          <a:bodyPr/>
          <a:lstStyle/>
          <a:p>
            <a:pPr marL="0" indent="0">
              <a:buNone/>
            </a:pPr>
            <a:r>
              <a:rPr lang="en-US" cap="none"/>
              <a:t>ActivityMain.xml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A883721-4EB6-4FFF-AC6E-EF5ED12BBEC4}"/>
              </a:ext>
            </a:extLst>
          </p:cNvPr>
          <p:cNvSpPr txBox="1">
            <a:spLocks/>
          </p:cNvSpPr>
          <p:nvPr/>
        </p:nvSpPr>
        <p:spPr>
          <a:xfrm>
            <a:off x="913775" y="618518"/>
            <a:ext cx="10364451" cy="828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í dụ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Listview 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 arraydapter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(tiếp)</a:t>
            </a:r>
            <a:br>
              <a:rPr lang="vi-VN"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D8D5AF1-E7C9-491C-A490-D261407AA3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553792"/>
            <a:ext cx="10363826" cy="52374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vi-VN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vi-VN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sz="1800" cap="none" dirty="0">
                <a:latin typeface="Arial" panose="020B0604020202020204" pitchFamily="34" charset="0"/>
                <a:cs typeface="Arial" panose="020B0604020202020204" pitchFamily="34" charset="0"/>
              </a:rPr>
              <a:t>public class MainActivity extends AppCompatActivity {</a:t>
            </a:r>
          </a:p>
          <a:p>
            <a:pPr marL="0" indent="0">
              <a:buNone/>
            </a:pPr>
            <a:r>
              <a:rPr lang="vi-VN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@Override</a:t>
            </a:r>
          </a:p>
          <a:p>
            <a:pPr marL="0" indent="0">
              <a:buNone/>
            </a:pPr>
            <a:r>
              <a:rPr lang="vi-VN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protected void onCreate(Bundle savedInstanceState) { 	</a:t>
            </a:r>
          </a:p>
          <a:p>
            <a:pPr marL="0" indent="0">
              <a:buNone/>
            </a:pPr>
            <a:r>
              <a:rPr lang="vi-VN" sz="1800" cap="none" dirty="0">
                <a:latin typeface="Arial" panose="020B0604020202020204" pitchFamily="34" charset="0"/>
                <a:cs typeface="Arial" panose="020B0604020202020204" pitchFamily="34" charset="0"/>
              </a:rPr>
              <a:t>	super.onCreate(savedInstanceState); 	</a:t>
            </a:r>
          </a:p>
          <a:p>
            <a:pPr marL="0" indent="0">
              <a:buNone/>
            </a:pPr>
            <a:r>
              <a:rPr lang="vi-VN" sz="1800" cap="none" dirty="0">
                <a:latin typeface="Arial" panose="020B0604020202020204" pitchFamily="34" charset="0"/>
                <a:cs typeface="Arial" panose="020B0604020202020204" pitchFamily="34" charset="0"/>
              </a:rPr>
              <a:t>	setContentView(R.layout.activity_main); </a:t>
            </a:r>
          </a:p>
          <a:p>
            <a:pPr marL="0" indent="0">
              <a:buNone/>
            </a:pPr>
            <a:r>
              <a:rPr lang="vi-VN" sz="1800" cap="none" dirty="0">
                <a:latin typeface="Arial" panose="020B0604020202020204" pitchFamily="34" charset="0"/>
                <a:cs typeface="Arial" panose="020B0604020202020204" pitchFamily="34" charset="0"/>
              </a:rPr>
              <a:t>	ListView listView = (ListView)findViewById(R.id.listView); </a:t>
            </a:r>
          </a:p>
          <a:p>
            <a:pPr marL="0" indent="0">
              <a:buNone/>
            </a:pPr>
            <a:r>
              <a:rPr lang="vi-VN" sz="1800" cap="none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br>
              <a:rPr lang="vi-VN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2ED576-0438-4023-AB0A-6DDD0B6963C3}"/>
              </a:ext>
            </a:extLst>
          </p:cNvPr>
          <p:cNvSpPr txBox="1">
            <a:spLocks/>
          </p:cNvSpPr>
          <p:nvPr/>
        </p:nvSpPr>
        <p:spPr>
          <a:xfrm>
            <a:off x="913775" y="618518"/>
            <a:ext cx="10364451" cy="828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í dụ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Listview 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 arraydapter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(tiếp)</a:t>
            </a:r>
            <a:br>
              <a:rPr lang="vi-VN"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Date Placeholder 10">
            <a:extLst>
              <a:ext uri="{FF2B5EF4-FFF2-40B4-BE49-F238E27FC236}">
                <a16:creationId xmlns:a16="http://schemas.microsoft.com/office/drawing/2014/main" id="{9CF9A241-B410-4CB3-B89F-9CFF225954A3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65" y="222885"/>
            <a:ext cx="10363835" cy="5568315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endParaRPr lang="vi-VN" cap="none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0" indent="0">
              <a:buNone/>
            </a:pPr>
            <a:endParaRPr lang="vi-V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 UserAccount tom = new UserAccount("Tom","admin");</a:t>
            </a:r>
            <a:endParaRPr lang="vi-V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 UserAccount jerry = new UserAccount("Jerry","user"); </a:t>
            </a:r>
            <a:endParaRPr lang="vi-V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UserAccount donald = new UserAccount("Donald","guest", false);</a:t>
            </a:r>
            <a:endParaRPr lang="vi-V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	UserAccount[] users = new UserAccount[]{tom,jerry, donald}; </a:t>
            </a:r>
            <a:endParaRPr lang="vi-V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// android.R.layout.simple_list_item_1: Là một hằng số Layout định nghĩa sẵn của Android </a:t>
            </a:r>
            <a:endParaRPr lang="vi-V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// ý nghĩa của nó là ListView với ListItem đơn giản (Duy nhất một TextView). </a:t>
            </a:r>
            <a:endParaRPr lang="vi-V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ArrayAdapter&lt;UserAccount&gt; arrayAdapter = </a:t>
            </a:r>
            <a:endParaRPr lang="vi-V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	new ArrayAdapter&lt;UserAccount&gt;(this, android.R.layout.simple_list_item_1 , users); </a:t>
            </a:r>
            <a:endParaRPr lang="vi-VN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	listView.setAdapter(arrayAdapter); } 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069309A-D8E9-4162-85FE-C001F64CB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í dụ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Listview 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 arraydapter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(tiếp)</a:t>
            </a:r>
            <a:br>
              <a:rPr lang="vi-VN"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B0AC853B-DFE8-4B2F-9C15-E318C46DFA1D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85116" y="1555845"/>
            <a:ext cx="6989142" cy="4785900"/>
          </a:xfrm>
        </p:spPr>
        <p:txBody>
          <a:bodyPr/>
          <a:lstStyle/>
          <a:p>
            <a:r>
              <a:rPr lang="vi-VN"/>
              <a:t>Android </a:t>
            </a:r>
            <a:r>
              <a:rPr lang="vi-VN" cap="none" dirty="0"/>
              <a:t>xây dựng sẵn </a:t>
            </a:r>
            <a:r>
              <a:rPr lang="vi-VN" cap="none"/>
              <a:t>một layout </a:t>
            </a:r>
            <a:r>
              <a:rPr lang="vi-VN" cap="none" dirty="0"/>
              <a:t>đơn giản mà </a:t>
            </a:r>
            <a:r>
              <a:rPr lang="vi-VN" dirty="0"/>
              <a:t>listltem </a:t>
            </a:r>
            <a:r>
              <a:rPr lang="vi-VN" cap="none"/>
              <a:t>làm bởi </a:t>
            </a:r>
            <a:r>
              <a:rPr lang="vi-VN" cap="none" dirty="0"/>
              <a:t>một</a:t>
            </a:r>
            <a:r>
              <a:rPr lang="vi-VN" dirty="0"/>
              <a:t> checkedtextview</a:t>
            </a:r>
          </a:p>
          <a:p>
            <a:pPr marL="0" indent="0">
              <a:buNone/>
            </a:pPr>
            <a:r>
              <a:rPr lang="vi-VN"/>
              <a:t> </a:t>
            </a:r>
            <a:r>
              <a:rPr lang="en-US"/>
              <a:t>	</a:t>
            </a:r>
            <a:r>
              <a:rPr lang="en-US" b="1" i="1"/>
              <a:t>android</a:t>
            </a:r>
            <a:r>
              <a:rPr lang="en-US" b="1" i="1" dirty="0" err="1"/>
              <a:t>.R.layout.simple_list_item_checked</a:t>
            </a:r>
            <a:endParaRPr lang="vi-VN" b="1" i="1" dirty="0"/>
          </a:p>
          <a:p>
            <a:pPr marL="0" indent="0">
              <a:buNone/>
            </a:pPr>
            <a:endParaRPr lang="en-US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660" y="1351128"/>
            <a:ext cx="4625340" cy="499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7CEFD87-8077-49BB-9032-49CED8F6F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>
            <a:norm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2.c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ác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 làm việc với </a:t>
            </a:r>
            <a:r>
              <a:rPr lang="vi-VN">
                <a:latin typeface="Arial" panose="020B0604020202020204" pitchFamily="34" charset="0"/>
                <a:cs typeface="Arial" panose="020B0604020202020204" pitchFamily="34" charset="0"/>
              </a:rPr>
              <a:t>arraydapter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F814B941-25DB-4EE2-A51E-8FB73381F5A3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381000"/>
            <a:ext cx="10363826" cy="5410199"/>
          </a:xfrm>
        </p:spPr>
        <p:txBody>
          <a:bodyPr/>
          <a:lstStyle/>
          <a:p>
            <a:r>
              <a:rPr lang="vi-VN" dirty="0"/>
              <a:t>Thiết kế giao diện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863600"/>
            <a:ext cx="5222875" cy="558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 descr="https://o7planning.org/vi/10923/cache/images/i/133117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863600"/>
            <a:ext cx="5511800" cy="558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BA87019F-93C8-4901-BAD6-9DA148BB9A41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159500" y="-1905"/>
            <a:ext cx="6042025" cy="7470775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br>
              <a:rPr lang="en-US" sz="1800" dirty="0"/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ListView</a:t>
            </a:r>
            <a:endParaRPr lang="en-US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android:layout_width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fill_parent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android:layout_height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wrap_content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android:id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="@+id/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listView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android:layout_weight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="1" /&gt;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&lt;Button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android:layout_width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wrap_content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android:layout_height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="50dp"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android:text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="Print Selected Items"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android:id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="@+id/button"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android:layout_gravity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="center"</a:t>
            </a:r>
          </a:p>
          <a:p>
            <a:pPr marL="0" indent="0" fontAlgn="base">
              <a:buNone/>
            </a:pP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android:onClick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printSelectedItems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" /&gt;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7172" name="Picture 4" descr="https://o7planning.org/vi/10923/cache/images/i/133118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" y="355601"/>
            <a:ext cx="5295900" cy="551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D9482EE8-9551-4487-B34D-2B70A5C33F50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520700"/>
            <a:ext cx="10363826" cy="5270499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//</a:t>
            </a:r>
          </a:p>
          <a:p>
            <a:pPr marL="0" indent="0" fontAlgn="base">
              <a:buNone/>
            </a:pP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</a:t>
            </a: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UserAccount tom = new UserAccount("Tom","admin");</a:t>
            </a:r>
          </a:p>
          <a:p>
            <a:pPr marL="0" indent="0" fontAlgn="base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        UserAccount jerry = new UserAccount("Jerry","user");</a:t>
            </a:r>
          </a:p>
          <a:p>
            <a:pPr marL="0" indent="0" fontAlgn="base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        UserAccount donald = new UserAccount("Donald","guest", false);</a:t>
            </a:r>
          </a:p>
          <a:p>
            <a:pPr marL="0" indent="0" fontAlgn="base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        UserAccount[] users = new UserAccount[]{tom,jerry, donald}; </a:t>
            </a:r>
          </a:p>
          <a:p>
            <a:pPr marL="0" indent="0" fontAlgn="base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 // android.R.layout.simple_list_item_checked: Là một hằng số Layout định nghĩa sẵn của Android</a:t>
            </a:r>
          </a:p>
          <a:p>
            <a:pPr marL="0" indent="0" fontAlgn="base">
              <a:buNone/>
            </a:pPr>
            <a:r>
              <a:rPr lang="vi-VN" cap="none" dirty="0">
                <a:latin typeface="Arial" panose="020B0604020202020204" pitchFamily="34" charset="0"/>
                <a:cs typeface="Arial" panose="020B0604020202020204" pitchFamily="34" charset="0"/>
              </a:rPr>
              <a:t>// ý nghĩa của nó là ListView với ListItem đơn giản (Duy nhất một CheckedTextView).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10">
            <a:extLst>
              <a:ext uri="{FF2B5EF4-FFF2-40B4-BE49-F238E27FC236}">
                <a16:creationId xmlns:a16="http://schemas.microsoft.com/office/drawing/2014/main" id="{AD92FA2C-7589-4EFC-A42D-81FE9A22ED2B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18" y="566736"/>
            <a:ext cx="4884082" cy="588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 descr="https://o7planning.org/vi/10923/cache/images/i/133215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100" y="566737"/>
            <a:ext cx="4927599" cy="588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7E4FFAF9-9733-464C-A353-CD67E7D97837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Phần 2: listview nâng cao</a:t>
            </a:r>
          </a:p>
        </p:txBody>
      </p:sp>
      <p:sp>
        <p:nvSpPr>
          <p:cNvPr id="6" name="Cloud 5"/>
          <p:cNvSpPr/>
          <p:nvPr/>
        </p:nvSpPr>
        <p:spPr>
          <a:xfrm>
            <a:off x="8004416" y="3554238"/>
            <a:ext cx="2825086" cy="1583141"/>
          </a:xfrm>
          <a:prstGeom prst="cloud">
            <a:avLst/>
          </a:prstGeom>
          <a:solidFill>
            <a:schemeClr val="bg2">
              <a:lumMod val="50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ArrayList</a:t>
            </a:r>
          </a:p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&lt;Object&gt;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9265180" y="1675055"/>
            <a:ext cx="1937982" cy="995573"/>
          </a:xfrm>
          <a:prstGeom prst="rect">
            <a:avLst/>
          </a:prstGeom>
          <a:solidFill>
            <a:srgbClr val="00B050"/>
          </a:solidFill>
          <a:ln w="28575">
            <a:solidFill>
              <a:schemeClr val="tx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</a:p>
          <a:p>
            <a:pPr algn="ctr"/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</a:p>
        </p:txBody>
      </p:sp>
      <p:sp>
        <p:nvSpPr>
          <p:cNvPr id="8" name="Rectangle: Rounded Corners 7"/>
          <p:cNvSpPr/>
          <p:nvPr/>
        </p:nvSpPr>
        <p:spPr>
          <a:xfrm>
            <a:off x="4339991" y="4870065"/>
            <a:ext cx="2825086" cy="108254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ObjectAdapter</a:t>
            </a:r>
          </a:p>
        </p:txBody>
      </p:sp>
      <p:sp>
        <p:nvSpPr>
          <p:cNvPr id="9" name="Explosion: 8 Points 8"/>
          <p:cNvSpPr/>
          <p:nvPr/>
        </p:nvSpPr>
        <p:spPr>
          <a:xfrm>
            <a:off x="4001069" y="1446664"/>
            <a:ext cx="4189862" cy="2403504"/>
          </a:xfrm>
          <a:prstGeom prst="irregularSeal1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 List Item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130" y="2068638"/>
            <a:ext cx="2607522" cy="3054181"/>
          </a:xfrm>
          <a:prstGeom prst="rect">
            <a:avLst/>
          </a:prstGeom>
          <a:ln>
            <a:solidFill>
              <a:schemeClr val="tx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cxnSp>
        <p:nvCxnSpPr>
          <p:cNvPr id="13" name="Straight Arrow Connector 12"/>
          <p:cNvCxnSpPr>
            <a:stCxn id="7" idx="2"/>
          </p:cNvCxnSpPr>
          <p:nvPr/>
        </p:nvCxnSpPr>
        <p:spPr>
          <a:xfrm flipH="1">
            <a:off x="9782629" y="2670628"/>
            <a:ext cx="451542" cy="883610"/>
          </a:xfrm>
          <a:prstGeom prst="straightConnector1">
            <a:avLst/>
          </a:prstGeom>
          <a:ln w="381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8" idx="3"/>
          </p:cNvCxnSpPr>
          <p:nvPr/>
        </p:nvCxnSpPr>
        <p:spPr>
          <a:xfrm flipH="1">
            <a:off x="7165077" y="4978400"/>
            <a:ext cx="1325780" cy="432936"/>
          </a:xfrm>
          <a:prstGeom prst="straightConnector1">
            <a:avLst/>
          </a:prstGeom>
          <a:ln w="38100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9" idx="2"/>
          </p:cNvCxnSpPr>
          <p:nvPr/>
        </p:nvCxnSpPr>
        <p:spPr>
          <a:xfrm flipH="1">
            <a:off x="5365846" y="3850168"/>
            <a:ext cx="281102" cy="1019897"/>
          </a:xfrm>
          <a:prstGeom prst="straightConnector1">
            <a:avLst/>
          </a:prstGeom>
          <a:ln w="412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/>
          <p:cNvCxnSpPr>
            <a:endCxn id="11" idx="2"/>
          </p:cNvCxnSpPr>
          <p:nvPr/>
        </p:nvCxnSpPr>
        <p:spPr>
          <a:xfrm rot="10800000">
            <a:off x="2196891" y="5122820"/>
            <a:ext cx="2143100" cy="682897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365846" y="1546404"/>
            <a:ext cx="717657" cy="615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06351" y="1453306"/>
            <a:ext cx="717657" cy="615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74420" y="4725585"/>
            <a:ext cx="717657" cy="615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38061" y="2055296"/>
            <a:ext cx="717657" cy="615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7" name="Date Placeholder 10">
            <a:extLst>
              <a:ext uri="{FF2B5EF4-FFF2-40B4-BE49-F238E27FC236}">
                <a16:creationId xmlns:a16="http://schemas.microsoft.com/office/drawing/2014/main" id="{5BA9509A-7B1C-415B-A35F-AF5AFD8A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Phần 2: listview nâng cao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(tiếp)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4450" cy="4344535"/>
          </a:xfrm>
        </p:spPr>
        <p:txBody>
          <a:bodyPr/>
          <a:lstStyle/>
          <a:p>
            <a:pPr marL="0" indent="0">
              <a:buNone/>
            </a:pP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Để dễ hình dung, lấy ví dụ: tạo listview hiển thị thông tin các quốc gia, trong đó: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Hình ảnh (ImageView): hiển thị cờ.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Tên quốc gia (TextView): hiển thị tên quốc gia.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Mô tả (TextView): hiển thị mô tả.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8412" y="5421867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Ví dụ minh họa bố cục một Item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530754" y="4094237"/>
            <a:ext cx="2799625" cy="91355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 Brazil</a:t>
            </a:r>
          </a:p>
          <a:p>
            <a:r>
              <a:rPr lang="en-US">
                <a:solidFill>
                  <a:schemeClr val="tx1"/>
                </a:solidFill>
              </a:rPr>
              <a:t> Nằm ở Nam Mỹ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035" y="4093394"/>
            <a:ext cx="1405719" cy="9144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205426" y="4687959"/>
            <a:ext cx="2019869" cy="82814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ImageView</a:t>
            </a:r>
          </a:p>
        </p:txBody>
      </p:sp>
      <p:sp>
        <p:nvSpPr>
          <p:cNvPr id="23" name="Oval 22"/>
          <p:cNvSpPr/>
          <p:nvPr/>
        </p:nvSpPr>
        <p:spPr>
          <a:xfrm>
            <a:off x="9167994" y="3679321"/>
            <a:ext cx="2019869" cy="82814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TextView</a:t>
            </a:r>
          </a:p>
        </p:txBody>
      </p:sp>
      <p:cxnSp>
        <p:nvCxnSpPr>
          <p:cNvPr id="15" name="Straight Arrow Connector 14"/>
          <p:cNvCxnSpPr>
            <a:stCxn id="12" idx="7"/>
            <a:endCxn id="10" idx="1"/>
          </p:cNvCxnSpPr>
          <p:nvPr/>
        </p:nvCxnSpPr>
        <p:spPr>
          <a:xfrm flipV="1">
            <a:off x="2929492" y="4550594"/>
            <a:ext cx="1195543" cy="258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23" idx="2"/>
          </p:cNvCxnSpPr>
          <p:nvPr/>
        </p:nvCxnSpPr>
        <p:spPr>
          <a:xfrm flipH="1">
            <a:off x="6250676" y="4093394"/>
            <a:ext cx="2917318" cy="292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3" idx="2"/>
          </p:cNvCxnSpPr>
          <p:nvPr/>
        </p:nvCxnSpPr>
        <p:spPr>
          <a:xfrm flipH="1">
            <a:off x="7166580" y="4093394"/>
            <a:ext cx="2001414" cy="594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17AF1783-681A-4FB6-A8E7-6CCE459ADD25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1. 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layout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Listview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5"/>
            <a:ext cx="4722751" cy="2172266"/>
          </a:xfrm>
        </p:spPr>
        <p:txBody>
          <a:bodyPr>
            <a:normAutofit/>
          </a:bodyPr>
          <a:lstStyle/>
          <a:p>
            <a:endParaRPr lang="en-US" cap="none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Trên layout activity_main.xml tạo một ListView, có thể đặt ListView trong RelativeLayout để dễ chỉnh sửa bố cục.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298" y="1540890"/>
            <a:ext cx="2793240" cy="4250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73528" y="5421867"/>
            <a:ext cx="2227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Ảnh minh họa Listview</a:t>
            </a:r>
          </a:p>
        </p:txBody>
      </p:sp>
      <p:sp>
        <p:nvSpPr>
          <p:cNvPr id="8" name="Date Placeholder 10">
            <a:extLst>
              <a:ext uri="{FF2B5EF4-FFF2-40B4-BE49-F238E27FC236}">
                <a16:creationId xmlns:a16="http://schemas.microsoft.com/office/drawing/2014/main" id="{FEF9AC7E-CCC5-4FFA-8403-425D0E37EC7C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2. 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layout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List Item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3826" cy="4344535"/>
          </a:xfrm>
        </p:spPr>
        <p:txBody>
          <a:bodyPr/>
          <a:lstStyle/>
          <a:p>
            <a:endParaRPr lang="en-US" cap="none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Tạo một layout List Item.xml (nằm trong th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 mục cùng đ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ờng dẫn với activity_main.xml)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Dùng RelativeLayout để định vị mối liên hệ của các view con (bố cục).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View con bao gồm ImageView và các TextView.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Chú ý: phải đặt id cho từng view đ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ợc tạo.</a:t>
            </a: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DDDC609E-DA44-4CFD-B7AC-2069C16534C8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2. 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layout List Item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632" y="1446664"/>
            <a:ext cx="2838735" cy="443876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89655" y="5421867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Ảnh minh họa List Item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5"/>
            <a:ext cx="4722751" cy="2172266"/>
          </a:xfrm>
        </p:spPr>
        <p:txBody>
          <a:bodyPr>
            <a:normAutofit/>
          </a:bodyPr>
          <a:lstStyle/>
          <a:p>
            <a:endParaRPr lang="en-US" cap="none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Ở đây chúng ta đặt màu background cho ImageView để dễ quan sát.</a:t>
            </a:r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B3BA4B08-1411-4301-AD8F-05B62C5E4F8F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3. 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class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3826" cy="4344535"/>
          </a:xfrm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class đối t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ợng .java (nằm trong th</a:t>
            </a:r>
            <a:r>
              <a:rPr lang="vi-VN" cap="none"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 mục cùng đ</a:t>
            </a:r>
            <a:r>
              <a:rPr lang="vi-VN" cap="none"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ờng dẫn với MainActivity.java)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Tạo các thuộc tính t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ứng với các view con đã tạo trong Layout List Item.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Viết ph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khởi tạo đối t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ợng và các ph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get, set.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Chú ý: hình ảnh có kiểu số nguyên.</a:t>
            </a:r>
          </a:p>
          <a:p>
            <a:pPr marL="0" indent="0">
              <a:buNone/>
            </a:pPr>
            <a:endParaRPr lang="en-US" cap="none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3. 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class Object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0" y="1446664"/>
            <a:ext cx="5637778" cy="43445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public 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String </a:t>
            </a:r>
            <a:r>
              <a:rPr lang="en-US" altLang="en-US" cap="none">
                <a:solidFill>
                  <a:srgbClr val="FFC66D"/>
                </a:solidFill>
                <a:latin typeface="Consolas" panose="020B0609020204030204" pitchFamily="49" charset="0"/>
              </a:rPr>
              <a:t>getTen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() {</a:t>
            </a: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return </a:t>
            </a:r>
            <a:r>
              <a:rPr lang="en-US" altLang="en-US" cap="none">
                <a:solidFill>
                  <a:srgbClr val="9876AA"/>
                </a:solidFill>
                <a:latin typeface="Consolas" panose="020B0609020204030204" pitchFamily="49" charset="0"/>
              </a:rPr>
              <a:t>Ten</a:t>
            </a: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public void </a:t>
            </a:r>
            <a:r>
              <a:rPr lang="en-US" altLang="en-US" cap="none">
                <a:solidFill>
                  <a:srgbClr val="FFC66D"/>
                </a:solidFill>
                <a:latin typeface="Consolas" panose="020B0609020204030204" pitchFamily="49" charset="0"/>
              </a:rPr>
              <a:t>setTen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(String ten) {</a:t>
            </a: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cap="none">
                <a:solidFill>
                  <a:srgbClr val="9876AA"/>
                </a:solidFill>
                <a:latin typeface="Consolas" panose="020B0609020204030204" pitchFamily="49" charset="0"/>
              </a:rPr>
              <a:t>Ten 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= ten</a:t>
            </a: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public 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String </a:t>
            </a:r>
            <a:r>
              <a:rPr lang="en-US" altLang="en-US" cap="none">
                <a:solidFill>
                  <a:srgbClr val="FFC66D"/>
                </a:solidFill>
                <a:latin typeface="Consolas" panose="020B0609020204030204" pitchFamily="49" charset="0"/>
              </a:rPr>
              <a:t>getMoTa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() {</a:t>
            </a: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return </a:t>
            </a:r>
            <a:r>
              <a:rPr lang="en-US" altLang="en-US" cap="none">
                <a:solidFill>
                  <a:srgbClr val="9876AA"/>
                </a:solidFill>
                <a:latin typeface="Consolas" panose="020B0609020204030204" pitchFamily="49" charset="0"/>
              </a:rPr>
              <a:t>MoTa</a:t>
            </a: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public void </a:t>
            </a:r>
            <a:r>
              <a:rPr lang="en-US" altLang="en-US" cap="none">
                <a:solidFill>
                  <a:srgbClr val="FFC66D"/>
                </a:solidFill>
                <a:latin typeface="Consolas" panose="020B0609020204030204" pitchFamily="49" charset="0"/>
              </a:rPr>
              <a:t>setMoTa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(String moTa) {</a:t>
            </a: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 cap="none">
                <a:solidFill>
                  <a:srgbClr val="9876AA"/>
                </a:solidFill>
                <a:latin typeface="Consolas" panose="020B0609020204030204" pitchFamily="49" charset="0"/>
              </a:rPr>
              <a:t>MoTa 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= moTa</a:t>
            </a: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b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 cap="none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cap="none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6937" y="1446664"/>
            <a:ext cx="54090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 {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private int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anh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private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String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Ten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MoTa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public </a:t>
            </a:r>
            <a:r>
              <a:rPr lang="en-US" altLang="en-US">
                <a:solidFill>
                  <a:srgbClr val="FFC66D"/>
                </a:solidFill>
                <a:latin typeface="Consolas" panose="020B0609020204030204" pitchFamily="49" charset="0"/>
              </a:rPr>
              <a:t>Country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anh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String ten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								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String moTa) {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this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anh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anh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Ten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ten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MoTa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moTa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public int </a:t>
            </a:r>
            <a:r>
              <a:rPr lang="en-US" altLang="en-US">
                <a:solidFill>
                  <a:srgbClr val="FFC66D"/>
                </a:solidFill>
                <a:latin typeface="Consolas" panose="020B0609020204030204" pitchFamily="49" charset="0"/>
              </a:rPr>
              <a:t>getAnh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() {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return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anh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public void </a:t>
            </a:r>
            <a:r>
              <a:rPr lang="en-US" altLang="en-US">
                <a:solidFill>
                  <a:srgbClr val="FFC66D"/>
                </a:solidFill>
                <a:latin typeface="Consolas" panose="020B0609020204030204" pitchFamily="49" charset="0"/>
              </a:rPr>
              <a:t>setAnh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anh) {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this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anh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anh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679586" y="5791199"/>
            <a:ext cx="283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Ví dụ minh họa class Country</a:t>
            </a:r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1618BF19-F656-4A94-BF3E-765992965A41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Tạo class Adapter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3826" cy="4344535"/>
          </a:xfrm>
        </p:spPr>
        <p:txBody>
          <a:bodyPr>
            <a:normAutofit/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class đối t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ợng .java(nằm trong th</a:t>
            </a:r>
            <a:r>
              <a:rPr lang="vi-VN" cap="none"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 mục cùng đ</a:t>
            </a:r>
            <a:r>
              <a:rPr lang="vi-VN" cap="none"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ờng dẫn với MainActivity.java)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ây là lớp mở rộng từ BaseAdapter, nó làm nhiệm vụ hiển thị dữ liệu trên các List Item.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Tạo 3 thuộc tính kiểu Context,  ArrayList, int.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Viết ph</a:t>
            </a:r>
            <a:r>
              <a:rPr lang="vi-VN" cap="none"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khởi tạo đối t</a:t>
            </a:r>
            <a:r>
              <a:rPr lang="vi-VN" cap="none"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ợng và các ph</a:t>
            </a:r>
            <a:r>
              <a:rPr lang="vi-VN" cap="none"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get, set.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Chú ý đến ph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getCount() và getView(…)</a:t>
            </a: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5641C6C2-4589-46FB-8F8F-3D655EE4A0E5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4. 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ạo class Adapter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3773" y="1446664"/>
            <a:ext cx="1036445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sz="2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ơng thức int getCount() trả về số l</a:t>
            </a:r>
            <a:r>
              <a:rPr lang="vi-VN" sz="2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ợng Item mà ListView sẽ hiển thị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Ví dụ: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CC7832"/>
              </a:solidFill>
              <a:latin typeface="Consolas" panose="020B0609020204030204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public int </a:t>
            </a:r>
            <a:r>
              <a:rPr lang="en-US" altLang="en-US">
                <a:solidFill>
                  <a:srgbClr val="FFC66D"/>
                </a:solidFill>
                <a:latin typeface="Consolas" panose="020B0609020204030204" pitchFamily="49" charset="0"/>
              </a:rPr>
              <a:t>getCount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() {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return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.size()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;//lấy kích th</a:t>
            </a:r>
            <a:r>
              <a:rPr lang="vi-VN" altLang="en-US">
                <a:solidFill>
                  <a:srgbClr val="CC7832"/>
                </a:solidFill>
                <a:latin typeface="Consolas" panose="020B0609020204030204" pitchFamily="49" charset="0"/>
              </a:rPr>
              <a:t>ư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ớc của mảng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A9B7C6"/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Ph</a:t>
            </a:r>
            <a:r>
              <a:rPr lang="vi-VN" sz="2000">
                <a:cs typeface="Arial" panose="020B0604020202020204" pitchFamily="34" charset="0"/>
              </a:rPr>
              <a:t>ư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ơng thức getView(…) trả về một View, mỗi View là một Item trong ListView.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5BAE3BD7-874F-470E-8B3F-5BDFB7CC9DAC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4.1 P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getView(…)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3826" cy="4344535"/>
          </a:xfrm>
        </p:spPr>
        <p:txBody>
          <a:bodyPr>
            <a:normAutofit/>
          </a:bodyPr>
          <a:lstStyle/>
          <a:p>
            <a:endParaRPr lang="en-US" cap="none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View getView(int position, View convertview, ViewGroup parent){}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Sử dụng component LayoutInflater, LayoutInfalter giúp chuyển file layout(xml) thành View(Java code) .</a:t>
            </a:r>
          </a:p>
          <a:p>
            <a:r>
              <a:rPr lang="vi-VN" cap="none">
                <a:cs typeface="Arial" panose="020B0604020202020204" pitchFamily="34" charset="0"/>
              </a:rPr>
              <a:t>LayoutInflater l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à một</a:t>
            </a:r>
            <a:r>
              <a:rPr lang="vi-VN" cap="none">
                <a:cs typeface="Arial" panose="020B0604020202020204" pitchFamily="34" charset="0"/>
              </a:rPr>
              <a:t> System Service của Android</a:t>
            </a:r>
            <a:r>
              <a:rPr lang="en-US" cap="none">
                <a:cs typeface="Arial" panose="020B0604020202020204" pitchFamily="34" charset="0"/>
              </a:rPr>
              <a:t>.</a:t>
            </a:r>
            <a:endParaRPr lang="en-US" cap="none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Cú pháp đầy đủ: LayoutInflater layoutInflater = (LayoutInflater) 				context.getSystemService(Context.LAYOUT_INFLATER_SERVICE);</a:t>
            </a:r>
          </a:p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Cú pháp ngắn gọn: LayoutInflater layoutInflater = LayoutInflater.from(context);</a:t>
            </a: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9A12D7C5-8172-4D0F-BABD-24D61830EF0E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4.1 P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getView(…)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3826" cy="4344535"/>
          </a:xfrm>
        </p:spPr>
        <p:txBody>
          <a:bodyPr>
            <a:normAutofit/>
          </a:bodyPr>
          <a:lstStyle/>
          <a:p>
            <a:endParaRPr lang="en-GB" cap="none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Sau khi có đối t</a:t>
            </a:r>
            <a:r>
              <a:rPr lang="vi-VN" cap="none"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ợng L</a:t>
            </a:r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ayoutInflater, </a:t>
            </a:r>
            <a:r>
              <a:rPr lang="vi-VN" cap="none"/>
              <a:t>dùng phương thức inflate để chuyển đổi 1 xml layout file thành 1 View trong java</a:t>
            </a:r>
            <a:r>
              <a:rPr lang="en-US" cap="none"/>
              <a:t>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Cú pháp: </a:t>
            </a:r>
          </a:p>
          <a:p>
            <a:pPr marL="0" indent="0">
              <a:buNone/>
            </a:pP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            view </a:t>
            </a:r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=layoutInflater.inflate(int resource, ViewGroup parent, Boolean attachToRoot);</a:t>
            </a:r>
          </a:p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Tiếp theo, th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ực hiện ánh xạ và gán giá trị.</a:t>
            </a: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5060C4F8-4CB7-4647-AC54-15F9F903541C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4.1 P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getView(…)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3775" y="1446664"/>
            <a:ext cx="1055034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public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View </a:t>
            </a:r>
            <a:r>
              <a:rPr lang="en-US" altLang="en-US">
                <a:solidFill>
                  <a:srgbClr val="FFC66D"/>
                </a:solidFill>
                <a:latin typeface="Consolas" panose="020B0609020204030204" pitchFamily="49" charset="0"/>
              </a:rPr>
              <a:t>getView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position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View convertView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ViewGroup parent) {</a:t>
            </a:r>
          </a:p>
          <a:p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	LayoutInflater layoutInflater = LayoutInflater.</a:t>
            </a:r>
            <a:r>
              <a:rPr lang="en-US" altLang="en-US" i="1">
                <a:solidFill>
                  <a:srgbClr val="A9B7C6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context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	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convertView = layoutInflater.inflate(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layout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null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	</a:t>
            </a:r>
            <a:r>
              <a:rPr lang="en-US" altLang="en-US">
                <a:solidFill>
                  <a:srgbClr val="808080"/>
                </a:solidFill>
                <a:latin typeface="Consolas" panose="020B0609020204030204" pitchFamily="49" charset="0"/>
              </a:rPr>
              <a:t>//mapping</a:t>
            </a:r>
            <a:br>
              <a:rPr lang="en-US" altLang="en-US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ImageView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imgView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(ImageView)convertView.findViewById(R.id.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image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	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TextView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txtName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(TextView)convertView.findViewById(R.id.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name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	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TextView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txtDescription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(TextView)convertView.findViewById(R.id.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description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	</a:t>
            </a:r>
            <a:r>
              <a:rPr lang="en-US" altLang="en-US">
                <a:latin typeface="Consolas" panose="020B0609020204030204" pitchFamily="49" charset="0"/>
              </a:rPr>
              <a:t>//gán giá trị</a:t>
            </a:r>
          </a:p>
          <a:p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	Country country =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.get(position)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endParaRPr lang="en-US" altLang="en-US">
              <a:latin typeface="Consolas" panose="020B0609020204030204" pitchFamily="49" charset="0"/>
            </a:endParaRPr>
          </a:p>
          <a:p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	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imgView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.setImageResource(country.getAnh())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	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txtName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.setText(country.getTen())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	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txtDescription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.setText(country.getMoTa())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	return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convertView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en-US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096707" y="5791199"/>
            <a:ext cx="3998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Ví dụ minh họa Ph</a:t>
            </a:r>
            <a:r>
              <a:rPr lang="vi-VN"/>
              <a:t>ư</a:t>
            </a:r>
            <a:r>
              <a:rPr lang="en-US"/>
              <a:t>ơng thức getView(…)</a:t>
            </a:r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0E59781C-0674-48AD-A066-F63AFC0213F1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4.2 V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iewHolder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3826" cy="4344535"/>
          </a:xfrm>
        </p:spPr>
        <p:txBody>
          <a:bodyPr>
            <a:normAutofit/>
          </a:bodyPr>
          <a:lstStyle/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ử dụng ViewHolder giúp ứng dụng m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ợt 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ơ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n.</a:t>
            </a:r>
            <a:endParaRPr lang="en-GB" cap="none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Tạo class ViewHolder.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Khai báo thuộc tính là những View cần ánh xạ.</a:t>
            </a:r>
          </a:p>
          <a:p>
            <a:pPr marL="0" indent="0">
              <a:buNone/>
            </a:pPr>
            <a:endParaRPr lang="en-GB" cap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98C2D3B4-EC08-4AA8-A0B6-4E623F00F106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4.2 V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iewHolder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3826" cy="4344535"/>
          </a:xfrm>
        </p:spPr>
        <p:txBody>
          <a:bodyPr>
            <a:normAutofit/>
          </a:bodyPr>
          <a:lstStyle/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Tại ph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ương thức getView(…) tạo đối t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ợng ViewHolder;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Kiểm tra nếu View = null thì dùng LayoutInflater, ph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inflate(..) sau đó ánh xạ;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Ánh xạ, ví dụ: holder.txtTen = (TextView) view.findViewById(R.id.textviewTen);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Truyền trạng thái ánh xạ của view vào holder: view.setTag(holder).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Nếu View khác null, lấy trạng thái ánh xạ từ holder: holder = (ViewHolder) view.getTag();</a:t>
            </a:r>
          </a:p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Thực hiện gán giá trị, ví dụ: holder.txtTen.setText(…);</a:t>
            </a:r>
          </a:p>
          <a:p>
            <a:endParaRPr lang="en-GB" cap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CC3D7A76-B497-4250-BC9C-C3BA8FFBFF98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4.2 V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iewHolder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8656" y="1446664"/>
            <a:ext cx="1105468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private class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Holder{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TextView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txtName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txtDescription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ImageView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imgView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endParaRPr lang="en-US" altLang="en-US">
              <a:solidFill>
                <a:srgbClr val="CC7832"/>
              </a:solidFill>
              <a:latin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public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View </a:t>
            </a:r>
            <a:r>
              <a:rPr lang="en-US" altLang="en-US">
                <a:solidFill>
                  <a:srgbClr val="FFC66D"/>
                </a:solidFill>
                <a:latin typeface="Consolas" panose="020B0609020204030204" pitchFamily="49" charset="0"/>
              </a:rPr>
              <a:t>getView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position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View convertView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ViewGroup parent){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Holder holder =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Holder()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if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(convertView ==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null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){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    LayoutInflater layoutInflater = LayoutInflater.</a:t>
            </a:r>
            <a:r>
              <a:rPr lang="en-US" altLang="en-US" i="1">
                <a:solidFill>
                  <a:srgbClr val="A9B7C6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context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convertView = layoutInflater.inflate(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layout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null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808080"/>
                </a:solidFill>
                <a:latin typeface="Consolas" panose="020B0609020204030204" pitchFamily="49" charset="0"/>
              </a:rPr>
              <a:t>//mapping</a:t>
            </a:r>
            <a:br>
              <a:rPr lang="en-US" altLang="en-US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808080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holder.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imgView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(ImageView)convertView.findViewById(R.id.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image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holder.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txtName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(TextView)convertView.findViewById(R.id.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name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holder.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txtDescription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(TextView)convertView.findViewById(R.id.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description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     convertView.setTag(holder);</a:t>
            </a:r>
            <a:br>
              <a:rPr lang="en-US" altLang="en-US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 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  ...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37205" y="5791199"/>
            <a:ext cx="271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Ví dụ minh họa ViewHolder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B536C6E8-C7C6-44A9-9A1B-58C46DF2930F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4.2 V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iewHolder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8656" y="1446664"/>
            <a:ext cx="1105468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public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View </a:t>
            </a:r>
            <a:r>
              <a:rPr lang="en-US" altLang="en-US">
                <a:solidFill>
                  <a:srgbClr val="FFC66D"/>
                </a:solidFill>
                <a:latin typeface="Consolas" panose="020B0609020204030204" pitchFamily="49" charset="0"/>
              </a:rPr>
              <a:t>getView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int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position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View convertView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ViewGroup parent){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...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else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	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holder = (Holder) convertView.getTag()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808080"/>
                </a:solidFill>
                <a:latin typeface="Consolas" panose="020B0609020204030204" pitchFamily="49" charset="0"/>
              </a:rPr>
              <a:t>//gán giá trị</a:t>
            </a:r>
            <a:br>
              <a:rPr lang="en-US" altLang="en-US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 country =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.get(position)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holder.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imgView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.setImageResource(country.getAnh())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holder.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txtName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.setText(country.getTen())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holder.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txtDescription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.setText(country.getMoTa())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return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convertView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}</a:t>
            </a:r>
            <a:endParaRPr lang="en-US" altLang="en-US">
              <a:solidFill>
                <a:srgbClr val="A9B7C6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37205" y="5791199"/>
            <a:ext cx="271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Ví dụ minh họa ViewHolder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FAD231D2-87C3-452E-8D53-2E3FDABD41B5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Cài đặt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ainActivity.java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3826" cy="4344535"/>
          </a:xfrm>
        </p:spPr>
        <p:txBody>
          <a:bodyPr>
            <a:normAutofit/>
          </a:bodyPr>
          <a:lstStyle/>
          <a:p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Copy hình ảnh vào đ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ờng dẫn res/drawable;</a:t>
            </a:r>
            <a:endParaRPr lang="en-GB" cap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613" y="1446664"/>
            <a:ext cx="3245804" cy="43445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84795" y="5421867"/>
            <a:ext cx="1404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Ảnh minh họa</a:t>
            </a:r>
          </a:p>
        </p:txBody>
      </p:sp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96B71933-5F97-4703-928F-7C27FED71D69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Cài đặt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ainActivity.java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446664"/>
            <a:ext cx="10363826" cy="4344535"/>
          </a:xfrm>
        </p:spPr>
        <p:txBody>
          <a:bodyPr>
            <a:normAutofit/>
          </a:bodyPr>
          <a:lstStyle/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Tạo các biến có kiểu: ListView, Adapter t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ừ class Adapter</a:t>
            </a:r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 và ArrayList.</a:t>
            </a:r>
          </a:p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Tại ph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onCreate(…), thực hiện ánh xạ và thêm các phần tử vào mảng.</a:t>
            </a:r>
          </a:p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Gán giá trị vào biến kiểu Adapter.</a:t>
            </a:r>
          </a:p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Đưa biến kiểu Adapter vào listview.</a:t>
            </a: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FFC3A159-9D8D-4666-9C8B-BC805539EE1E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Cài đặt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ainActivity.java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3773" y="1859339"/>
            <a:ext cx="1082330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ListView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listView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CountryAdapter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countryAdapter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ArrayList&lt;Country&gt;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BBB529"/>
                </a:solidFill>
                <a:latin typeface="Consolas" panose="020B0609020204030204" pitchFamily="49" charset="0"/>
              </a:rPr>
              <a:t>@Override</a:t>
            </a:r>
            <a:br>
              <a:rPr lang="en-US" altLang="en-US">
                <a:solidFill>
                  <a:srgbClr val="BBB529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protected void </a:t>
            </a:r>
            <a:r>
              <a:rPr lang="en-US" altLang="en-US">
                <a:solidFill>
                  <a:srgbClr val="FFC66D"/>
                </a:solidFill>
                <a:latin typeface="Consolas" panose="020B0609020204030204" pitchFamily="49" charset="0"/>
              </a:rPr>
              <a:t>onCreate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(Bundle savedInstanceState) {</a:t>
            </a:r>
            <a:b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super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.onCreate(savedInstanceState)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setContentView(R.layout.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activity_main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listView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(ListView)findViewById(R.id.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listview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taomang();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countryAdapter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CountryAdapter(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this,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R.layout.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list_item_layout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listView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.setAdapter(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countryAdapter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endParaRPr lang="en-US" altLang="en-US" sz="4400">
              <a:latin typeface="Arial" panose="020B0604020202020204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quarter" idx="13"/>
          </p:nvPr>
        </p:nvSpPr>
        <p:spPr>
          <a:xfrm>
            <a:off x="913773" y="1446664"/>
            <a:ext cx="10363826" cy="412675"/>
          </a:xfrm>
        </p:spPr>
        <p:txBody>
          <a:bodyPr>
            <a:normAutofit lnSpcReduction="10000"/>
          </a:bodyPr>
          <a:lstStyle/>
          <a:p>
            <a:r>
              <a:rPr lang="en-GB" cap="none">
                <a:latin typeface="Arial" panose="020B0604020202020204" pitchFamily="34" charset="0"/>
                <a:cs typeface="Arial" panose="020B0604020202020204" pitchFamily="34" charset="0"/>
              </a:rPr>
              <a:t>Ở đây chúng ta tạo thêm ph</a:t>
            </a:r>
            <a:r>
              <a:rPr lang="vi-VN" cap="none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ơng thức taomang() để dễ quan sát.</a:t>
            </a:r>
            <a:endParaRPr lang="en-GB" cap="non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02748" y="5791199"/>
            <a:ext cx="4186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Ví dụ minh họa tại cài đặt MainActivity.java</a:t>
            </a:r>
          </a:p>
        </p:txBody>
      </p:sp>
      <p:sp>
        <p:nvSpPr>
          <p:cNvPr id="10" name="Date Placeholder 10">
            <a:extLst>
              <a:ext uri="{FF2B5EF4-FFF2-40B4-BE49-F238E27FC236}">
                <a16:creationId xmlns:a16="http://schemas.microsoft.com/office/drawing/2014/main" id="{544B1006-3722-4788-BBBC-56E5FC93A838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82814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5 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Cài đặt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n-US" cap="none">
                <a:latin typeface="Arial" panose="020B0604020202020204" pitchFamily="34" charset="0"/>
                <a:cs typeface="Arial" panose="020B0604020202020204" pitchFamily="34" charset="0"/>
              </a:rPr>
              <a:t>ainActivity.java (tiếp)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3775" y="1446664"/>
            <a:ext cx="1082330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private void </a:t>
            </a:r>
            <a:r>
              <a:rPr lang="en-US" altLang="en-US">
                <a:solidFill>
                  <a:srgbClr val="FFC66D"/>
                </a:solidFill>
                <a:latin typeface="Consolas" panose="020B0609020204030204" pitchFamily="49" charset="0"/>
              </a:rPr>
              <a:t>taomang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(){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= 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ArrayList&lt;Country&gt;()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Country(R.drawable.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aicap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"Ai Cập"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“Bắc Phi"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Country(R.drawable.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ando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"Ấn Độ"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“Nam Á"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Country(R.drawable.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ao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"Áo"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“Trung Âu"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Country(R.drawable.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balan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"Ba lan"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“Trung Âu"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Country(R.drawable.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brazil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"Brazil"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“Nam Mỹ"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Country(R.drawable.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canada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"Canada"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“Bắc Mỹ"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Country(R.drawable.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cuba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"Cu-ba"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“Trung Mỹ"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Country(R.drawable.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lao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"Lào"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“Đông Nam Á"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Country(R.drawable.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nhatban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"Nhật Bản"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“Đông Á"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>
                <a:solidFill>
                  <a:srgbClr val="9876AA"/>
                </a:solidFill>
                <a:latin typeface="Consolas" panose="020B0609020204030204" pitchFamily="49" charset="0"/>
              </a:rPr>
              <a:t>countries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.add(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new 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Country(R.drawable.</a:t>
            </a:r>
            <a:r>
              <a:rPr lang="en-US" altLang="en-US" i="1">
                <a:solidFill>
                  <a:srgbClr val="9876AA"/>
                </a:solidFill>
                <a:latin typeface="Consolas" panose="020B0609020204030204" pitchFamily="49" charset="0"/>
              </a:rPr>
              <a:t>vietnam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"Việt Nam"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, </a:t>
            </a:r>
            <a:r>
              <a:rPr lang="en-US" altLang="en-US">
                <a:solidFill>
                  <a:srgbClr val="6A8759"/>
                </a:solidFill>
                <a:latin typeface="Consolas" panose="020B0609020204030204" pitchFamily="49" charset="0"/>
              </a:rPr>
              <a:t>“Đông Nam Á"</a:t>
            </a: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))</a:t>
            </a:r>
            <a: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  <a:t>;</a:t>
            </a:r>
            <a:br>
              <a:rPr lang="en-US" altLang="en-US">
                <a:solidFill>
                  <a:srgbClr val="CC7832"/>
                </a:solidFill>
                <a:latin typeface="Consolas" panose="020B0609020204030204" pitchFamily="49" charset="0"/>
              </a:rPr>
            </a:br>
            <a:r>
              <a:rPr lang="en-US" altLang="en-US">
                <a:solidFill>
                  <a:srgbClr val="A9B7C6"/>
                </a:solidFill>
                <a:latin typeface="Consolas" panose="020B0609020204030204" pitchFamily="49" charset="0"/>
              </a:rPr>
              <a:t>}</a:t>
            </a:r>
            <a:endParaRPr lang="en-US" altLang="en-US" sz="4400"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92288" y="5791199"/>
            <a:ext cx="3807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Ví dụ minh họa ph</a:t>
            </a:r>
            <a:r>
              <a:rPr lang="vi-VN"/>
              <a:t>ư</a:t>
            </a:r>
            <a:r>
              <a:rPr lang="en-US"/>
              <a:t>ơng thức tạo mảng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6479F6B3-29C9-427E-83E5-A9FA079C5A91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31489" y="5888346"/>
            <a:ext cx="2313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Ảnh minh họa sản phẩm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56108" y="5888346"/>
            <a:ext cx="2930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Ứng dụng xem mật khẩu wifi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58" y="1446664"/>
            <a:ext cx="2678667" cy="423378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76" y="1446664"/>
            <a:ext cx="2678667" cy="4233780"/>
          </a:xfrm>
          <a:prstGeom prst="rect">
            <a:avLst/>
          </a:prstGeom>
        </p:spPr>
      </p:pic>
      <p:sp>
        <p:nvSpPr>
          <p:cNvPr id="7" name="Date Placeholder 10">
            <a:extLst>
              <a:ext uri="{FF2B5EF4-FFF2-40B4-BE49-F238E27FC236}">
                <a16:creationId xmlns:a16="http://schemas.microsoft.com/office/drawing/2014/main" id="{57727687-56A7-489A-B660-C7F3A2FBBDF9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877403"/>
            <a:ext cx="8689976" cy="1551597"/>
          </a:xfrm>
        </p:spPr>
        <p:txBody>
          <a:bodyPr>
            <a:normAutofit/>
          </a:bodyPr>
          <a:lstStyle/>
          <a:p>
            <a:r>
              <a:rPr lang="en-US" sz="8000">
                <a:latin typeface="Exo 2"/>
                <a:cs typeface="Arial" panose="020B0604020202020204" pitchFamily="34" charset="0"/>
              </a:rPr>
              <a:t>Hết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9BEE6-C14E-46FF-ADB4-3F33049E42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429000"/>
            <a:ext cx="8689976" cy="137159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tx1"/>
                </a:solidFill>
              </a:rPr>
              <a:t>CẢM </a:t>
            </a:r>
            <a:r>
              <a:rPr lang="vi-VN" sz="3200">
                <a:solidFill>
                  <a:schemeClr val="tx1"/>
                </a:solidFill>
              </a:rPr>
              <a:t>Ơ</a:t>
            </a:r>
            <a:r>
              <a:rPr lang="en-US" sz="3200">
                <a:solidFill>
                  <a:schemeClr val="tx1"/>
                </a:solidFill>
              </a:rPr>
              <a:t>N THẦY VÀ CÁC BẠN ĐÃ THEO DÕI!</a:t>
            </a: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687B5BCC-3487-4C2F-A215-8CBFCFCC475E}"/>
              </a:ext>
            </a:extLst>
          </p:cNvPr>
          <p:cNvSpPr txBox="1">
            <a:spLocks/>
          </p:cNvSpPr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23/04/2020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35</TotalTime>
  <Words>2783</Words>
  <Application>Microsoft Office PowerPoint</Application>
  <PresentationFormat>Widescreen</PresentationFormat>
  <Paragraphs>244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Consolas</vt:lpstr>
      <vt:lpstr>Exo 2</vt:lpstr>
      <vt:lpstr>Times New Roman</vt:lpstr>
      <vt:lpstr>Tw Cen MT</vt:lpstr>
      <vt:lpstr>Droplet</vt:lpstr>
      <vt:lpstr>LISTVIEW</vt:lpstr>
      <vt:lpstr>Giới thiệu</vt:lpstr>
      <vt:lpstr>Giới thiệu</vt:lpstr>
      <vt:lpstr>NỘI DUNG</vt:lpstr>
      <vt:lpstr>Phần 1: listview cơ bản</vt:lpstr>
      <vt:lpstr>1. Arraydapter</vt:lpstr>
      <vt:lpstr>2. Ví dụ Listview với arraydapter </vt:lpstr>
      <vt:lpstr>PowerPoint Presentation</vt:lpstr>
      <vt:lpstr>PowerPoint Presentation</vt:lpstr>
      <vt:lpstr>2. Ví dụ Listview với arraydapter (tiếp) </vt:lpstr>
      <vt:lpstr>2.các layout làm việc với arraydapter</vt:lpstr>
      <vt:lpstr>PowerPoint Presentation</vt:lpstr>
      <vt:lpstr>PowerPoint Presentation</vt:lpstr>
      <vt:lpstr>PowerPoint Presentation</vt:lpstr>
      <vt:lpstr>PowerPoint Presentation</vt:lpstr>
      <vt:lpstr>Phần 2: listview nâng cao</vt:lpstr>
      <vt:lpstr>Phần 2: listview nâng cao (tiếp)</vt:lpstr>
      <vt:lpstr>1. tạo layout Listview</vt:lpstr>
      <vt:lpstr>2. Tạo layout List Item</vt:lpstr>
      <vt:lpstr>2. Tạo layout List Item (tiếp)</vt:lpstr>
      <vt:lpstr>3. Tạo class Object</vt:lpstr>
      <vt:lpstr>3. Tạo class Object (tiếp)</vt:lpstr>
      <vt:lpstr>4. Tạo class Adapter</vt:lpstr>
      <vt:lpstr>4. Tạo class Adapter (tiếp)</vt:lpstr>
      <vt:lpstr>4.1 Phương thức getView(…)</vt:lpstr>
      <vt:lpstr>4.1 Phương thức getView(…) (tiếp)</vt:lpstr>
      <vt:lpstr>4.1 Phương thức getView(…) (tiếp)</vt:lpstr>
      <vt:lpstr>4.2 ViewHolder</vt:lpstr>
      <vt:lpstr>4.2 ViewHolder (tiếp)</vt:lpstr>
      <vt:lpstr>4.2 ViewHolder (tiếp)</vt:lpstr>
      <vt:lpstr>4.2 ViewHolder (tiếp)</vt:lpstr>
      <vt:lpstr>5 Cài đặt MainActivity.java</vt:lpstr>
      <vt:lpstr>5 Cài đặt MainActivity.java (tiếp)</vt:lpstr>
      <vt:lpstr>5 Cài đặt MainActivity.java (tiếp)</vt:lpstr>
      <vt:lpstr>5 Cài đặt MainActivity.java (tiếp)</vt:lpstr>
      <vt:lpstr>PowerPoint Presentation</vt:lpstr>
      <vt:lpstr>Hết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LISTVIEW</dc:title>
  <dc:creator>Lưu Mạnh</dc:creator>
  <cp:lastModifiedBy>Lưu Mạnh</cp:lastModifiedBy>
  <cp:revision>65</cp:revision>
  <dcterms:created xsi:type="dcterms:W3CDTF">2020-03-15T14:11:00Z</dcterms:created>
  <dcterms:modified xsi:type="dcterms:W3CDTF">2020-04-24T13:37:55Z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1033-11.2.0.9281</vt:lpwstr>
  </property>
</Properties>
</file>